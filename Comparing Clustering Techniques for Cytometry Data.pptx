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0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045E50-C858-4349-94DE-097C850E604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D4A14B-0D84-47C8-B795-F413D49EF5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How do different clustering algorithms perform on high-dimensional cytometry data in terms of accuracy and stability?</a:t>
          </a:r>
          <a:endParaRPr lang="en-US" dirty="0"/>
        </a:p>
      </dgm:t>
    </dgm:pt>
    <dgm:pt modelId="{CB484B8E-9EE5-44F6-935E-A4A6A49FBF02}" type="parTrans" cxnId="{68FE77D7-5806-424D-93E1-EE0900BE3FF2}">
      <dgm:prSet/>
      <dgm:spPr/>
      <dgm:t>
        <a:bodyPr/>
        <a:lstStyle/>
        <a:p>
          <a:endParaRPr lang="en-US"/>
        </a:p>
      </dgm:t>
    </dgm:pt>
    <dgm:pt modelId="{3947B4CC-9DDE-44BB-9043-94412C038219}" type="sibTrans" cxnId="{68FE77D7-5806-424D-93E1-EE0900BE3FF2}">
      <dgm:prSet/>
      <dgm:spPr/>
      <dgm:t>
        <a:bodyPr/>
        <a:lstStyle/>
        <a:p>
          <a:endParaRPr lang="en-US"/>
        </a:p>
      </dgm:t>
    </dgm:pt>
    <dgm:pt modelId="{CF084CCA-8A8E-47D0-8371-D54CD7375E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Which preprocessing techniques most influence clustering quality and the separability of cell populations?</a:t>
          </a:r>
          <a:endParaRPr lang="en-US" dirty="0"/>
        </a:p>
      </dgm:t>
    </dgm:pt>
    <dgm:pt modelId="{B95F8AAC-F132-461B-94D1-4D740CF4261F}" type="parTrans" cxnId="{CC16C7B1-6364-41F4-85C6-04DF7182D270}">
      <dgm:prSet/>
      <dgm:spPr/>
      <dgm:t>
        <a:bodyPr/>
        <a:lstStyle/>
        <a:p>
          <a:endParaRPr lang="en-US"/>
        </a:p>
      </dgm:t>
    </dgm:pt>
    <dgm:pt modelId="{937B1B60-F52E-421B-9EBD-195CB9B918BC}" type="sibTrans" cxnId="{CC16C7B1-6364-41F4-85C6-04DF7182D270}">
      <dgm:prSet/>
      <dgm:spPr/>
      <dgm:t>
        <a:bodyPr/>
        <a:lstStyle/>
        <a:p>
          <a:endParaRPr lang="en-US"/>
        </a:p>
      </dgm:t>
    </dgm:pt>
    <dgm:pt modelId="{757D6A6E-5EC1-4AF1-8F16-63AFA4C20C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Are density-based or graph-based methods (e.g., FlowSOM, </a:t>
          </a:r>
          <a:r>
            <a:rPr lang="en-US" b="1" i="0" baseline="0" dirty="0" err="1"/>
            <a:t>PhenoGraph</a:t>
          </a:r>
          <a:r>
            <a:rPr lang="en-US" b="1" i="0" baseline="0" dirty="0"/>
            <a:t>, </a:t>
          </a:r>
          <a:r>
            <a:rPr lang="en-US" b="1" i="0" baseline="0" dirty="0" err="1"/>
            <a:t>FlowGrid</a:t>
          </a:r>
          <a:r>
            <a:rPr lang="en-US" b="1" i="0" baseline="0" dirty="0"/>
            <a:t>) more effective than classical approaches (e.g., K-Means, Agglomerative, Spectral Clustering) for </a:t>
          </a:r>
          <a:r>
            <a:rPr lang="en-US" b="1" i="0" baseline="0" dirty="0" err="1"/>
            <a:t>CyTOF</a:t>
          </a:r>
          <a:r>
            <a:rPr lang="en-US" b="1" i="0" baseline="0" dirty="0"/>
            <a:t> datasets?</a:t>
          </a:r>
          <a:endParaRPr lang="en-US" dirty="0"/>
        </a:p>
      </dgm:t>
    </dgm:pt>
    <dgm:pt modelId="{92C5B327-0322-4A0D-9DCB-689AACADD6B9}" type="parTrans" cxnId="{94433209-89A4-4C17-ADC5-7FA2287AD463}">
      <dgm:prSet/>
      <dgm:spPr/>
      <dgm:t>
        <a:bodyPr/>
        <a:lstStyle/>
        <a:p>
          <a:endParaRPr lang="en-US"/>
        </a:p>
      </dgm:t>
    </dgm:pt>
    <dgm:pt modelId="{9E5D833C-2658-4B6F-8ABE-9778A5E90143}" type="sibTrans" cxnId="{94433209-89A4-4C17-ADC5-7FA2287AD463}">
      <dgm:prSet/>
      <dgm:spPr/>
      <dgm:t>
        <a:bodyPr/>
        <a:lstStyle/>
        <a:p>
          <a:endParaRPr lang="en-US"/>
        </a:p>
      </dgm:t>
    </dgm:pt>
    <dgm:pt modelId="{6460882F-0BBA-442C-82A9-BE297EB95AA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Can clustering results reveal biologically meaningful patterns, such as differences between stimulated and unstimulated samples?</a:t>
          </a:r>
          <a:endParaRPr lang="en-US" b="1" dirty="0"/>
        </a:p>
      </dgm:t>
    </dgm:pt>
    <dgm:pt modelId="{AEB738E1-4A52-40AA-9880-4B6D265731FF}" type="parTrans" cxnId="{86C5E50D-15E8-4804-803B-802A50218D7D}">
      <dgm:prSet/>
      <dgm:spPr/>
      <dgm:t>
        <a:bodyPr/>
        <a:lstStyle/>
        <a:p>
          <a:endParaRPr lang="en-US"/>
        </a:p>
      </dgm:t>
    </dgm:pt>
    <dgm:pt modelId="{889842E3-6DC1-45EE-B412-33FE3866B49A}" type="sibTrans" cxnId="{86C5E50D-15E8-4804-803B-802A50218D7D}">
      <dgm:prSet/>
      <dgm:spPr/>
      <dgm:t>
        <a:bodyPr/>
        <a:lstStyle/>
        <a:p>
          <a:endParaRPr lang="en-US"/>
        </a:p>
      </dgm:t>
    </dgm:pt>
    <dgm:pt modelId="{5D32E279-05E9-40BD-BDB1-B2245646EE52}" type="pres">
      <dgm:prSet presAssocID="{95045E50-C858-4349-94DE-097C850E6047}" presName="root" presStyleCnt="0">
        <dgm:presLayoutVars>
          <dgm:dir/>
          <dgm:resizeHandles val="exact"/>
        </dgm:presLayoutVars>
      </dgm:prSet>
      <dgm:spPr/>
    </dgm:pt>
    <dgm:pt modelId="{EFE63FE3-7A8E-40B7-AE76-D1B657D447C7}" type="pres">
      <dgm:prSet presAssocID="{90D4A14B-0D84-47C8-B795-F413D49EF5CF}" presName="compNode" presStyleCnt="0"/>
      <dgm:spPr/>
    </dgm:pt>
    <dgm:pt modelId="{C9834232-F8A9-445E-8D00-A0085801950C}" type="pres">
      <dgm:prSet presAssocID="{90D4A14B-0D84-47C8-B795-F413D49EF5CF}" presName="bgRect" presStyleLbl="bgShp" presStyleIdx="0" presStyleCnt="4"/>
      <dgm:spPr/>
    </dgm:pt>
    <dgm:pt modelId="{4E44980A-697F-41BE-B6D6-7568ADE9FE7C}" type="pres">
      <dgm:prSet presAssocID="{90D4A14B-0D84-47C8-B795-F413D49EF5C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5E99A3DE-3E06-414E-B300-DB1D95E6CD93}" type="pres">
      <dgm:prSet presAssocID="{90D4A14B-0D84-47C8-B795-F413D49EF5CF}" presName="spaceRect" presStyleCnt="0"/>
      <dgm:spPr/>
    </dgm:pt>
    <dgm:pt modelId="{D84E2DCD-DF9C-4810-B828-37592EC52A60}" type="pres">
      <dgm:prSet presAssocID="{90D4A14B-0D84-47C8-B795-F413D49EF5CF}" presName="parTx" presStyleLbl="revTx" presStyleIdx="0" presStyleCnt="4">
        <dgm:presLayoutVars>
          <dgm:chMax val="0"/>
          <dgm:chPref val="0"/>
        </dgm:presLayoutVars>
      </dgm:prSet>
      <dgm:spPr/>
    </dgm:pt>
    <dgm:pt modelId="{EB7735C0-C23F-4861-BAC4-A8CEFC1AFF92}" type="pres">
      <dgm:prSet presAssocID="{3947B4CC-9DDE-44BB-9043-94412C038219}" presName="sibTrans" presStyleCnt="0"/>
      <dgm:spPr/>
    </dgm:pt>
    <dgm:pt modelId="{F9E6B3C7-5A67-4BE2-BACF-C3AD4DD86AD7}" type="pres">
      <dgm:prSet presAssocID="{CF084CCA-8A8E-47D0-8371-D54CD7375E20}" presName="compNode" presStyleCnt="0"/>
      <dgm:spPr/>
    </dgm:pt>
    <dgm:pt modelId="{5B0DE4B6-435B-4ACD-955D-D77C7820DDA9}" type="pres">
      <dgm:prSet presAssocID="{CF084CCA-8A8E-47D0-8371-D54CD7375E20}" presName="bgRect" presStyleLbl="bgShp" presStyleIdx="1" presStyleCnt="4"/>
      <dgm:spPr/>
    </dgm:pt>
    <dgm:pt modelId="{4AD276D2-0891-4313-AEF5-6748D410DEE5}" type="pres">
      <dgm:prSet presAssocID="{CF084CCA-8A8E-47D0-8371-D54CD7375E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438FAE4B-C592-41CA-B110-1A4623BADC88}" type="pres">
      <dgm:prSet presAssocID="{CF084CCA-8A8E-47D0-8371-D54CD7375E20}" presName="spaceRect" presStyleCnt="0"/>
      <dgm:spPr/>
    </dgm:pt>
    <dgm:pt modelId="{304801B6-95D4-4A12-BB05-06C798ECDD4E}" type="pres">
      <dgm:prSet presAssocID="{CF084CCA-8A8E-47D0-8371-D54CD7375E20}" presName="parTx" presStyleLbl="revTx" presStyleIdx="1" presStyleCnt="4">
        <dgm:presLayoutVars>
          <dgm:chMax val="0"/>
          <dgm:chPref val="0"/>
        </dgm:presLayoutVars>
      </dgm:prSet>
      <dgm:spPr/>
    </dgm:pt>
    <dgm:pt modelId="{A259A995-A0BF-4AC9-8C19-D47A0CF36C61}" type="pres">
      <dgm:prSet presAssocID="{937B1B60-F52E-421B-9EBD-195CB9B918BC}" presName="sibTrans" presStyleCnt="0"/>
      <dgm:spPr/>
    </dgm:pt>
    <dgm:pt modelId="{CD303154-8243-4004-B7C9-E200C5FD1471}" type="pres">
      <dgm:prSet presAssocID="{757D6A6E-5EC1-4AF1-8F16-63AFA4C20CCD}" presName="compNode" presStyleCnt="0"/>
      <dgm:spPr/>
    </dgm:pt>
    <dgm:pt modelId="{2D4ED041-7ABB-45D1-BB5B-DA8C3F08D6AC}" type="pres">
      <dgm:prSet presAssocID="{757D6A6E-5EC1-4AF1-8F16-63AFA4C20CCD}" presName="bgRect" presStyleLbl="bgShp" presStyleIdx="2" presStyleCnt="4"/>
      <dgm:spPr/>
    </dgm:pt>
    <dgm:pt modelId="{C0BBC027-FDB6-4C6F-9324-C298D8FE2F7E}" type="pres">
      <dgm:prSet presAssocID="{757D6A6E-5EC1-4AF1-8F16-63AFA4C20CC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he"/>
        </a:ext>
      </dgm:extLst>
    </dgm:pt>
    <dgm:pt modelId="{760F1C9B-0D3C-4859-B542-709208213797}" type="pres">
      <dgm:prSet presAssocID="{757D6A6E-5EC1-4AF1-8F16-63AFA4C20CCD}" presName="spaceRect" presStyleCnt="0"/>
      <dgm:spPr/>
    </dgm:pt>
    <dgm:pt modelId="{0AD7C243-69D1-4E63-A14F-49C7E3D85161}" type="pres">
      <dgm:prSet presAssocID="{757D6A6E-5EC1-4AF1-8F16-63AFA4C20CCD}" presName="parTx" presStyleLbl="revTx" presStyleIdx="2" presStyleCnt="4">
        <dgm:presLayoutVars>
          <dgm:chMax val="0"/>
          <dgm:chPref val="0"/>
        </dgm:presLayoutVars>
      </dgm:prSet>
      <dgm:spPr/>
    </dgm:pt>
    <dgm:pt modelId="{C908FE72-0143-4B5E-8D6A-8FE3B17E0B9F}" type="pres">
      <dgm:prSet presAssocID="{9E5D833C-2658-4B6F-8ABE-9778A5E90143}" presName="sibTrans" presStyleCnt="0"/>
      <dgm:spPr/>
    </dgm:pt>
    <dgm:pt modelId="{A46CF878-B362-4B19-BC12-1B0CA5ED6F7D}" type="pres">
      <dgm:prSet presAssocID="{6460882F-0BBA-442C-82A9-BE297EB95AA1}" presName="compNode" presStyleCnt="0"/>
      <dgm:spPr/>
    </dgm:pt>
    <dgm:pt modelId="{74ED33CC-20B3-4EFB-A09B-121E400A7624}" type="pres">
      <dgm:prSet presAssocID="{6460882F-0BBA-442C-82A9-BE297EB95AA1}" presName="bgRect" presStyleLbl="bgShp" presStyleIdx="3" presStyleCnt="4"/>
      <dgm:spPr/>
    </dgm:pt>
    <dgm:pt modelId="{8C1DD4FD-9C8E-4FDC-B0F8-A89EEE860299}" type="pres">
      <dgm:prSet presAssocID="{6460882F-0BBA-442C-82A9-BE297EB95A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E8ED86C3-1441-4714-BE07-321E33F3B209}" type="pres">
      <dgm:prSet presAssocID="{6460882F-0BBA-442C-82A9-BE297EB95AA1}" presName="spaceRect" presStyleCnt="0"/>
      <dgm:spPr/>
    </dgm:pt>
    <dgm:pt modelId="{08518481-745F-472F-8236-ACB1CEB47591}" type="pres">
      <dgm:prSet presAssocID="{6460882F-0BBA-442C-82A9-BE297EB95AA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7449A07-E9F7-47E6-BA33-EF69AB267D66}" type="presOf" srcId="{CF084CCA-8A8E-47D0-8371-D54CD7375E20}" destId="{304801B6-95D4-4A12-BB05-06C798ECDD4E}" srcOrd="0" destOrd="0" presId="urn:microsoft.com/office/officeart/2018/2/layout/IconVerticalSolidList"/>
    <dgm:cxn modelId="{94433209-89A4-4C17-ADC5-7FA2287AD463}" srcId="{95045E50-C858-4349-94DE-097C850E6047}" destId="{757D6A6E-5EC1-4AF1-8F16-63AFA4C20CCD}" srcOrd="2" destOrd="0" parTransId="{92C5B327-0322-4A0D-9DCB-689AACADD6B9}" sibTransId="{9E5D833C-2658-4B6F-8ABE-9778A5E90143}"/>
    <dgm:cxn modelId="{86C5E50D-15E8-4804-803B-802A50218D7D}" srcId="{95045E50-C858-4349-94DE-097C850E6047}" destId="{6460882F-0BBA-442C-82A9-BE297EB95AA1}" srcOrd="3" destOrd="0" parTransId="{AEB738E1-4A52-40AA-9880-4B6D265731FF}" sibTransId="{889842E3-6DC1-45EE-B412-33FE3866B49A}"/>
    <dgm:cxn modelId="{90FF375B-AD53-442A-A269-F41960E8E33B}" type="presOf" srcId="{757D6A6E-5EC1-4AF1-8F16-63AFA4C20CCD}" destId="{0AD7C243-69D1-4E63-A14F-49C7E3D85161}" srcOrd="0" destOrd="0" presId="urn:microsoft.com/office/officeart/2018/2/layout/IconVerticalSolidList"/>
    <dgm:cxn modelId="{EE0F2C8D-E62A-4D65-BDF8-714A9DAC2F3A}" type="presOf" srcId="{95045E50-C858-4349-94DE-097C850E6047}" destId="{5D32E279-05E9-40BD-BDB1-B2245646EE52}" srcOrd="0" destOrd="0" presId="urn:microsoft.com/office/officeart/2018/2/layout/IconVerticalSolidList"/>
    <dgm:cxn modelId="{CC16C7B1-6364-41F4-85C6-04DF7182D270}" srcId="{95045E50-C858-4349-94DE-097C850E6047}" destId="{CF084CCA-8A8E-47D0-8371-D54CD7375E20}" srcOrd="1" destOrd="0" parTransId="{B95F8AAC-F132-461B-94D1-4D740CF4261F}" sibTransId="{937B1B60-F52E-421B-9EBD-195CB9B918BC}"/>
    <dgm:cxn modelId="{CD66D5C4-A111-41BA-8167-C37D16CBEC18}" type="presOf" srcId="{90D4A14B-0D84-47C8-B795-F413D49EF5CF}" destId="{D84E2DCD-DF9C-4810-B828-37592EC52A60}" srcOrd="0" destOrd="0" presId="urn:microsoft.com/office/officeart/2018/2/layout/IconVerticalSolidList"/>
    <dgm:cxn modelId="{68FE77D7-5806-424D-93E1-EE0900BE3FF2}" srcId="{95045E50-C858-4349-94DE-097C850E6047}" destId="{90D4A14B-0D84-47C8-B795-F413D49EF5CF}" srcOrd="0" destOrd="0" parTransId="{CB484B8E-9EE5-44F6-935E-A4A6A49FBF02}" sibTransId="{3947B4CC-9DDE-44BB-9043-94412C038219}"/>
    <dgm:cxn modelId="{27381BF5-85DA-4AE3-9C6D-49352FA400D2}" type="presOf" srcId="{6460882F-0BBA-442C-82A9-BE297EB95AA1}" destId="{08518481-745F-472F-8236-ACB1CEB47591}" srcOrd="0" destOrd="0" presId="urn:microsoft.com/office/officeart/2018/2/layout/IconVerticalSolidList"/>
    <dgm:cxn modelId="{061B7C00-745B-43B6-AF9F-D88EB3299909}" type="presParOf" srcId="{5D32E279-05E9-40BD-BDB1-B2245646EE52}" destId="{EFE63FE3-7A8E-40B7-AE76-D1B657D447C7}" srcOrd="0" destOrd="0" presId="urn:microsoft.com/office/officeart/2018/2/layout/IconVerticalSolidList"/>
    <dgm:cxn modelId="{0FA8A3E3-4C26-439D-AD99-6FE3BFA96C5A}" type="presParOf" srcId="{EFE63FE3-7A8E-40B7-AE76-D1B657D447C7}" destId="{C9834232-F8A9-445E-8D00-A0085801950C}" srcOrd="0" destOrd="0" presId="urn:microsoft.com/office/officeart/2018/2/layout/IconVerticalSolidList"/>
    <dgm:cxn modelId="{659DBB0F-44F8-41BE-BAB8-6ACF53C31EF8}" type="presParOf" srcId="{EFE63FE3-7A8E-40B7-AE76-D1B657D447C7}" destId="{4E44980A-697F-41BE-B6D6-7568ADE9FE7C}" srcOrd="1" destOrd="0" presId="urn:microsoft.com/office/officeart/2018/2/layout/IconVerticalSolidList"/>
    <dgm:cxn modelId="{974D643C-2C14-4AB1-9709-E802C29C699B}" type="presParOf" srcId="{EFE63FE3-7A8E-40B7-AE76-D1B657D447C7}" destId="{5E99A3DE-3E06-414E-B300-DB1D95E6CD93}" srcOrd="2" destOrd="0" presId="urn:microsoft.com/office/officeart/2018/2/layout/IconVerticalSolidList"/>
    <dgm:cxn modelId="{6188FAE1-A615-432C-92EF-E2AD9A2335D0}" type="presParOf" srcId="{EFE63FE3-7A8E-40B7-AE76-D1B657D447C7}" destId="{D84E2DCD-DF9C-4810-B828-37592EC52A60}" srcOrd="3" destOrd="0" presId="urn:microsoft.com/office/officeart/2018/2/layout/IconVerticalSolidList"/>
    <dgm:cxn modelId="{AABA8DF0-6777-4B80-8AA1-5D8BED683089}" type="presParOf" srcId="{5D32E279-05E9-40BD-BDB1-B2245646EE52}" destId="{EB7735C0-C23F-4861-BAC4-A8CEFC1AFF92}" srcOrd="1" destOrd="0" presId="urn:microsoft.com/office/officeart/2018/2/layout/IconVerticalSolidList"/>
    <dgm:cxn modelId="{FAB2F3B3-1726-4996-9BDE-DAD7FA15FB81}" type="presParOf" srcId="{5D32E279-05E9-40BD-BDB1-B2245646EE52}" destId="{F9E6B3C7-5A67-4BE2-BACF-C3AD4DD86AD7}" srcOrd="2" destOrd="0" presId="urn:microsoft.com/office/officeart/2018/2/layout/IconVerticalSolidList"/>
    <dgm:cxn modelId="{D65B6D72-53BF-41DE-A514-8DDF9CD61A2D}" type="presParOf" srcId="{F9E6B3C7-5A67-4BE2-BACF-C3AD4DD86AD7}" destId="{5B0DE4B6-435B-4ACD-955D-D77C7820DDA9}" srcOrd="0" destOrd="0" presId="urn:microsoft.com/office/officeart/2018/2/layout/IconVerticalSolidList"/>
    <dgm:cxn modelId="{A26A3A8B-F73C-4F96-83D2-AAD4F619EF95}" type="presParOf" srcId="{F9E6B3C7-5A67-4BE2-BACF-C3AD4DD86AD7}" destId="{4AD276D2-0891-4313-AEF5-6748D410DEE5}" srcOrd="1" destOrd="0" presId="urn:microsoft.com/office/officeart/2018/2/layout/IconVerticalSolidList"/>
    <dgm:cxn modelId="{6F9F4425-6F22-4EBF-B048-0CDAA5950136}" type="presParOf" srcId="{F9E6B3C7-5A67-4BE2-BACF-C3AD4DD86AD7}" destId="{438FAE4B-C592-41CA-B110-1A4623BADC88}" srcOrd="2" destOrd="0" presId="urn:microsoft.com/office/officeart/2018/2/layout/IconVerticalSolidList"/>
    <dgm:cxn modelId="{859FF292-76C1-40DB-A4FD-803C60F128F8}" type="presParOf" srcId="{F9E6B3C7-5A67-4BE2-BACF-C3AD4DD86AD7}" destId="{304801B6-95D4-4A12-BB05-06C798ECDD4E}" srcOrd="3" destOrd="0" presId="urn:microsoft.com/office/officeart/2018/2/layout/IconVerticalSolidList"/>
    <dgm:cxn modelId="{F598AD3F-A86C-4D36-B8A9-2B61DC96AAA6}" type="presParOf" srcId="{5D32E279-05E9-40BD-BDB1-B2245646EE52}" destId="{A259A995-A0BF-4AC9-8C19-D47A0CF36C61}" srcOrd="3" destOrd="0" presId="urn:microsoft.com/office/officeart/2018/2/layout/IconVerticalSolidList"/>
    <dgm:cxn modelId="{82EEE600-C8C4-415C-AB6F-6ECB4404A4B5}" type="presParOf" srcId="{5D32E279-05E9-40BD-BDB1-B2245646EE52}" destId="{CD303154-8243-4004-B7C9-E200C5FD1471}" srcOrd="4" destOrd="0" presId="urn:microsoft.com/office/officeart/2018/2/layout/IconVerticalSolidList"/>
    <dgm:cxn modelId="{9C54DADE-ACAE-4CD2-9EC1-266E25300EA1}" type="presParOf" srcId="{CD303154-8243-4004-B7C9-E200C5FD1471}" destId="{2D4ED041-7ABB-45D1-BB5B-DA8C3F08D6AC}" srcOrd="0" destOrd="0" presId="urn:microsoft.com/office/officeart/2018/2/layout/IconVerticalSolidList"/>
    <dgm:cxn modelId="{B3AB6C69-A074-40F5-B8E8-1A25E0DF1D6C}" type="presParOf" srcId="{CD303154-8243-4004-B7C9-E200C5FD1471}" destId="{C0BBC027-FDB6-4C6F-9324-C298D8FE2F7E}" srcOrd="1" destOrd="0" presId="urn:microsoft.com/office/officeart/2018/2/layout/IconVerticalSolidList"/>
    <dgm:cxn modelId="{D6E58845-7F4A-4BB6-AE6B-2B430EB0F297}" type="presParOf" srcId="{CD303154-8243-4004-B7C9-E200C5FD1471}" destId="{760F1C9B-0D3C-4859-B542-709208213797}" srcOrd="2" destOrd="0" presId="urn:microsoft.com/office/officeart/2018/2/layout/IconVerticalSolidList"/>
    <dgm:cxn modelId="{030249A5-3398-44BA-B860-859F85A9C63A}" type="presParOf" srcId="{CD303154-8243-4004-B7C9-E200C5FD1471}" destId="{0AD7C243-69D1-4E63-A14F-49C7E3D85161}" srcOrd="3" destOrd="0" presId="urn:microsoft.com/office/officeart/2018/2/layout/IconVerticalSolidList"/>
    <dgm:cxn modelId="{D52A27D1-6595-4280-912F-842E1E6F5DE4}" type="presParOf" srcId="{5D32E279-05E9-40BD-BDB1-B2245646EE52}" destId="{C908FE72-0143-4B5E-8D6A-8FE3B17E0B9F}" srcOrd="5" destOrd="0" presId="urn:microsoft.com/office/officeart/2018/2/layout/IconVerticalSolidList"/>
    <dgm:cxn modelId="{700C8489-B859-45C9-8A04-9594AA35D06C}" type="presParOf" srcId="{5D32E279-05E9-40BD-BDB1-B2245646EE52}" destId="{A46CF878-B362-4B19-BC12-1B0CA5ED6F7D}" srcOrd="6" destOrd="0" presId="urn:microsoft.com/office/officeart/2018/2/layout/IconVerticalSolidList"/>
    <dgm:cxn modelId="{0649E285-C431-4F43-960E-40E3D1EBF876}" type="presParOf" srcId="{A46CF878-B362-4B19-BC12-1B0CA5ED6F7D}" destId="{74ED33CC-20B3-4EFB-A09B-121E400A7624}" srcOrd="0" destOrd="0" presId="urn:microsoft.com/office/officeart/2018/2/layout/IconVerticalSolidList"/>
    <dgm:cxn modelId="{FC009AE4-2DA5-4A81-B235-FBBA6B99161B}" type="presParOf" srcId="{A46CF878-B362-4B19-BC12-1B0CA5ED6F7D}" destId="{8C1DD4FD-9C8E-4FDC-B0F8-A89EEE860299}" srcOrd="1" destOrd="0" presId="urn:microsoft.com/office/officeart/2018/2/layout/IconVerticalSolidList"/>
    <dgm:cxn modelId="{6D25509C-1E25-4667-8BA1-0E1151CF8E5F}" type="presParOf" srcId="{A46CF878-B362-4B19-BC12-1B0CA5ED6F7D}" destId="{E8ED86C3-1441-4714-BE07-321E33F3B209}" srcOrd="2" destOrd="0" presId="urn:microsoft.com/office/officeart/2018/2/layout/IconVerticalSolidList"/>
    <dgm:cxn modelId="{CD03DE2F-12F6-4B00-91F6-7ABB5B868390}" type="presParOf" srcId="{A46CF878-B362-4B19-BC12-1B0CA5ED6F7D}" destId="{08518481-745F-472F-8236-ACB1CEB475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834232-F8A9-445E-8D00-A0085801950C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4980A-697F-41BE-B6D6-7568ADE9FE7C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E2DCD-DF9C-4810-B828-37592EC52A60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How do different clustering algorithms perform on high-dimensional cytometry data in terms of accuracy and stability?</a:t>
          </a:r>
          <a:endParaRPr lang="en-US" sz="1400" kern="1200" dirty="0"/>
        </a:p>
      </dsp:txBody>
      <dsp:txXfrm>
        <a:off x="1336039" y="2282"/>
        <a:ext cx="4835908" cy="1156744"/>
      </dsp:txXfrm>
    </dsp:sp>
    <dsp:sp modelId="{5B0DE4B6-435B-4ACD-955D-D77C7820DDA9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D276D2-0891-4313-AEF5-6748D410DEE5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801B6-95D4-4A12-BB05-06C798ECDD4E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Which preprocessing techniques most influence clustering quality and the separability of cell populations?</a:t>
          </a:r>
          <a:endParaRPr lang="en-US" sz="1400" kern="1200" dirty="0"/>
        </a:p>
      </dsp:txBody>
      <dsp:txXfrm>
        <a:off x="1336039" y="1448212"/>
        <a:ext cx="4835908" cy="1156744"/>
      </dsp:txXfrm>
    </dsp:sp>
    <dsp:sp modelId="{2D4ED041-7ABB-45D1-BB5B-DA8C3F08D6AC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BC027-FDB6-4C6F-9324-C298D8FE2F7E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7C243-69D1-4E63-A14F-49C7E3D85161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Are density-based or graph-based methods (e.g., FlowSOM, </a:t>
          </a:r>
          <a:r>
            <a:rPr lang="en-US" sz="1400" b="1" i="0" kern="1200" baseline="0" dirty="0" err="1"/>
            <a:t>PhenoGraph</a:t>
          </a:r>
          <a:r>
            <a:rPr lang="en-US" sz="1400" b="1" i="0" kern="1200" baseline="0" dirty="0"/>
            <a:t>, </a:t>
          </a:r>
          <a:r>
            <a:rPr lang="en-US" sz="1400" b="1" i="0" kern="1200" baseline="0" dirty="0" err="1"/>
            <a:t>FlowGrid</a:t>
          </a:r>
          <a:r>
            <a:rPr lang="en-US" sz="1400" b="1" i="0" kern="1200" baseline="0" dirty="0"/>
            <a:t>) more effective than classical approaches (e.g., K-Means, Agglomerative, Spectral Clustering) for </a:t>
          </a:r>
          <a:r>
            <a:rPr lang="en-US" sz="1400" b="1" i="0" kern="1200" baseline="0" dirty="0" err="1"/>
            <a:t>CyTOF</a:t>
          </a:r>
          <a:r>
            <a:rPr lang="en-US" sz="1400" b="1" i="0" kern="1200" baseline="0" dirty="0"/>
            <a:t> datasets?</a:t>
          </a:r>
          <a:endParaRPr lang="en-US" sz="1400" kern="1200" dirty="0"/>
        </a:p>
      </dsp:txBody>
      <dsp:txXfrm>
        <a:off x="1336039" y="2894143"/>
        <a:ext cx="4835908" cy="1156744"/>
      </dsp:txXfrm>
    </dsp:sp>
    <dsp:sp modelId="{74ED33CC-20B3-4EFB-A09B-121E400A7624}">
      <dsp:nvSpPr>
        <dsp:cNvPr id="0" name=""/>
        <dsp:cNvSpPr/>
      </dsp:nvSpPr>
      <dsp:spPr>
        <a:xfrm>
          <a:off x="0" y="434007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DD4FD-9C8E-4FDC-B0F8-A89EEE860299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18481-745F-472F-8236-ACB1CEB47591}">
      <dsp:nvSpPr>
        <dsp:cNvPr id="0" name=""/>
        <dsp:cNvSpPr/>
      </dsp:nvSpPr>
      <dsp:spPr>
        <a:xfrm>
          <a:off x="1336039" y="434007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Can clustering results reveal biologically meaningful patterns, such as differences between stimulated and unstimulated samples?</a:t>
          </a:r>
          <a:endParaRPr lang="en-US" sz="1400" b="1" kern="1200" dirty="0"/>
        </a:p>
      </dsp:txBody>
      <dsp:txXfrm>
        <a:off x="1336039" y="4340073"/>
        <a:ext cx="4835908" cy="1156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4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76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7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9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6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2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8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1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1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6449887/?utm_source=chatgpt.com" TargetMode="External"/><Relationship Id="rId2" Type="http://schemas.openxmlformats.org/officeDocument/2006/relationships/hyperlink" Target="https://genomebiology.biomedcentral.com/articles/10.1186/s13059-019-1917-7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ubmed.ncbi.nlm.nih.gov/38632080/" TargetMode="External"/><Relationship Id="rId5" Type="http://schemas.openxmlformats.org/officeDocument/2006/relationships/hyperlink" Target="https://orca.cardiff.ac.uk/id/eprint/154423/4/btac751.pdf?utm_source=chatgpt.com" TargetMode="External"/><Relationship Id="rId4" Type="http://schemas.openxmlformats.org/officeDocument/2006/relationships/hyperlink" Target="https://pubmed.ncbi.nlm.nih.gov/25573116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2464D3-7DE7-8B7C-93B4-0C207EA8B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Comparing Clustering Techniques for Cytometry Data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25ADA64-9CFA-C6B5-1892-E145345DC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Simone Santin</a:t>
            </a:r>
          </a:p>
          <a:p>
            <a:r>
              <a:rPr lang="it-IT" dirty="0"/>
              <a:t>Alessandro Torre</a:t>
            </a:r>
          </a:p>
        </p:txBody>
      </p:sp>
    </p:spTree>
    <p:extLst>
      <p:ext uri="{BB962C8B-B14F-4D97-AF65-F5344CB8AC3E}">
        <p14:creationId xmlns:p14="http://schemas.microsoft.com/office/powerpoint/2010/main" val="204379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D8AC959-2915-994E-C7DC-670E8633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it-IT"/>
              <a:t>Research questions</a:t>
            </a:r>
            <a:endParaRPr lang="it-IT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3A81AE94-11BB-797F-8F60-43441C135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037608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110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2576FB-7534-31F6-F72D-44F410B38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7" y="559063"/>
            <a:ext cx="3306747" cy="52560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LITERATURE references: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8E00BA-7CE2-E81A-6D5F-59E4698FA3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43022" y="622249"/>
            <a:ext cx="6844892" cy="56117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hlinkClick r:id="rId2"/>
              </a:rPr>
              <a:t>Ultrafast clustering of single-cell flow cytometry data using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effectLst/>
                <a:hlinkClick r:id="rId2"/>
              </a:rPr>
              <a:t>FlowGrid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hlinkClick r:id="rId2"/>
              </a:rPr>
              <a:t> — X Ye &amp; JWK Ho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hlinkClick r:id="rId3"/>
              </a:rPr>
              <a:t>A comparison framework and guideline of clustering methods for mass cytometry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hlinkClick r:id="rId3"/>
              </a:rPr>
              <a:t> — X Liu et al.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hlinkClick r:id="rId4"/>
              </a:rPr>
              <a:t>FlowSOM: Using self-organizing maps for visualization and interpretation of cytometry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hlinkClick r:id="rId4"/>
              </a:rPr>
              <a:t> — Sofie Van Gassen et al.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hlinkClick r:id="rId5"/>
              </a:rPr>
              <a:t>GeoWaVe: Geometric median clustering with weighted voting for ensemble clustering of cytometry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hlinkClick r:id="rId5"/>
              </a:rPr>
              <a:t> — Ross J Burton, Simone M Cuff, Matt P Morgan et al.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hlinkClick r:id="rId6"/>
              </a:rPr>
              <a:t>Efficient cytometry analysis with FlowSOM in Python boosts interoperability with other single-cell tools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hlinkClick r:id="rId6"/>
              </a:rPr>
              <a:t> —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hlinkClick r:id="rId6"/>
              </a:rPr>
              <a:t>Couckuyt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hlinkClick r:id="rId6"/>
              </a:rPr>
              <a:t> et al.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24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8FCDCE-E408-9251-2A8D-AEC3A0CB77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4000" dirty="0" err="1"/>
              <a:t>Experimental</a:t>
            </a:r>
            <a:r>
              <a:rPr lang="it-IT" sz="4000" dirty="0"/>
              <a:t> Plan &amp; Design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5ED52-3E89-8F10-5878-23C8A1E0D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 flipV="1">
            <a:off x="11738356" y="1926566"/>
            <a:ext cx="194852" cy="45719"/>
          </a:xfrm>
        </p:spPr>
        <p:txBody>
          <a:bodyPr>
            <a:normAutofit fontScale="25000" lnSpcReduction="20000"/>
          </a:bodyPr>
          <a:lstStyle/>
          <a:p>
            <a:endParaRPr lang="it-IT" sz="4400" dirty="0"/>
          </a:p>
          <a:p>
            <a:endParaRPr lang="it-IT" sz="4400" dirty="0"/>
          </a:p>
          <a:p>
            <a:endParaRPr lang="it-IT" sz="4400" dirty="0"/>
          </a:p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85ED8D-AC45-591E-65FE-BB9586BBFF15}"/>
              </a:ext>
            </a:extLst>
          </p:cNvPr>
          <p:cNvSpPr txBox="1"/>
          <p:nvPr/>
        </p:nvSpPr>
        <p:spPr>
          <a:xfrm>
            <a:off x="839638" y="1828800"/>
            <a:ext cx="9650083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Preprocess</a:t>
            </a:r>
            <a:r>
              <a:rPr lang="en-US" altLang="en-US" sz="2000" dirty="0">
                <a:latin typeface="Arial" panose="020B0604020202020204" pitchFamily="34" charset="0"/>
              </a:rPr>
              <a:t> cytometry data (</a:t>
            </a:r>
            <a:r>
              <a:rPr lang="en-US" altLang="en-US" sz="2000" dirty="0" err="1">
                <a:latin typeface="Arial" panose="020B0604020202020204" pitchFamily="34" charset="0"/>
              </a:rPr>
              <a:t>arcsinh</a:t>
            </a:r>
            <a:r>
              <a:rPr lang="en-US" altLang="en-US" sz="2000" dirty="0">
                <a:latin typeface="Arial" panose="020B0604020202020204" pitchFamily="34" charset="0"/>
              </a:rPr>
              <a:t> transform, normalization, filtering).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Reduce dimensionality </a:t>
            </a:r>
            <a:r>
              <a:rPr lang="en-US" altLang="en-US" sz="2000" dirty="0">
                <a:latin typeface="Arial" panose="020B0604020202020204" pitchFamily="34" charset="0"/>
              </a:rPr>
              <a:t>for visualization.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Apply and compare clustering algorithms</a:t>
            </a:r>
            <a:r>
              <a:rPr lang="en-US" altLang="en-US" sz="2000" dirty="0">
                <a:latin typeface="Arial" panose="020B0604020202020204" pitchFamily="34" charset="0"/>
              </a:rPr>
              <a:t>: K-Means, Agglomerative, Spectral, DBSCAN, FlowSOM, </a:t>
            </a:r>
            <a:r>
              <a:rPr lang="en-US" altLang="en-US" sz="2000" dirty="0" err="1">
                <a:latin typeface="Arial" panose="020B0604020202020204" pitchFamily="34" charset="0"/>
              </a:rPr>
              <a:t>FlowGrid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PhenoGraph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GeoWave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Evaluate results </a:t>
            </a:r>
            <a:r>
              <a:rPr lang="en-US" altLang="en-US" sz="2000" dirty="0">
                <a:latin typeface="Arial" panose="020B0604020202020204" pitchFamily="34" charset="0"/>
              </a:rPr>
              <a:t>using ARI, NMI, and F1-score against ground truth cell types.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Visualize clusters </a:t>
            </a:r>
            <a:r>
              <a:rPr lang="en-US" altLang="en-US" sz="2000" dirty="0">
                <a:latin typeface="Arial" panose="020B0604020202020204" pitchFamily="34" charset="0"/>
              </a:rPr>
              <a:t>and analyze biological relevance (stimulated vs unstimulated samples).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579604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235CC64-93E6-25BF-DC59-866A44D46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6001512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Questions &amp; Feedback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17E7BE23-79AE-3451-AAF9-7927790B00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4087" y="2961736"/>
            <a:ext cx="7801558" cy="25419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Is the research idea of comparing multiple clustering algorithms </a:t>
            </a:r>
            <a:r>
              <a:rPr lang="en-US" altLang="en-US" sz="1700" dirty="0"/>
              <a:t>a good research idea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?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Is the current bibliography sufficient for the project scope?</a:t>
            </a:r>
          </a:p>
          <a:p>
            <a:pPr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/>
              <a:t>Which aspects are most important to focus on when evaluating a project like this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?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Besides </a:t>
            </a:r>
            <a:r>
              <a:rPr kumimoji="0" lang="en-US" altLang="en-US" sz="1700" b="0" i="1" u="none" strike="noStrike" cap="none" normalizeH="0" baseline="0" dirty="0" err="1">
                <a:ln>
                  <a:noFill/>
                </a:ln>
                <a:effectLst/>
              </a:rPr>
              <a:t>cell_type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, are other columns (e.g., </a:t>
            </a: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group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stimulated vs unstimulated) useful for evaluation or experiment?</a:t>
            </a:r>
          </a:p>
        </p:txBody>
      </p:sp>
      <p:pic>
        <p:nvPicPr>
          <p:cNvPr id="9" name="Graphic 8" descr="Help">
            <a:extLst>
              <a:ext uri="{FF2B5EF4-FFF2-40B4-BE49-F238E27FC236}">
                <a16:creationId xmlns:a16="http://schemas.microsoft.com/office/drawing/2014/main" id="{0836ED43-E496-9DFD-5B3E-2A8FDA04C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8703" y="1932043"/>
            <a:ext cx="4202057" cy="420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6432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339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Comparing Clustering Techniques for Cytometry Data</vt:lpstr>
      <vt:lpstr>Research questions</vt:lpstr>
      <vt:lpstr>LITERATURE references:  </vt:lpstr>
      <vt:lpstr>Experimental Plan &amp; Design</vt:lpstr>
      <vt:lpstr>Questions &amp;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a.torre3@campus.unimib.it</dc:creator>
  <cp:lastModifiedBy>Elisa Silvia Spada</cp:lastModifiedBy>
  <cp:revision>5</cp:revision>
  <dcterms:created xsi:type="dcterms:W3CDTF">2025-11-02T18:21:18Z</dcterms:created>
  <dcterms:modified xsi:type="dcterms:W3CDTF">2025-11-05T22:29:36Z</dcterms:modified>
</cp:coreProperties>
</file>